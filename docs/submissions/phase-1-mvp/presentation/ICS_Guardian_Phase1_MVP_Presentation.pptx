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15968"/>
            <a:ext cx="12191695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1463040" cy="50800"/>
          </a:xfrm>
          <a:prstGeom prst="rect">
            <a:avLst/>
          </a:prstGeom>
          <a:solidFill>
            <a:srgbClr val="8FB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Platform for Protecting Water Chlorination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Systems from Cyber Attacks</a:t>
            </a:r>
          </a:p>
          <a:p>
            <a:pPr>
              <a:spcBef>
                <a:spcPts val="1400"/>
              </a:spcBef>
            </a:pPr>
            <a:r>
              <a:rPr sz="2000" b="1" i="0">
                <a:solidFill>
                  <a:srgbClr val="BFD3EA"/>
                </a:solidFill>
                <a:latin typeface="Calibri"/>
              </a:rPr>
              <a:t>Phase 1 / MVP Progress Report</a:t>
            </a:r>
          </a:p>
          <a:p>
            <a:r>
              <a:rPr sz="1600" b="0" i="1">
                <a:solidFill>
                  <a:srgbClr val="BFD3EA"/>
                </a:solidFill>
                <a:latin typeface="Calibri"/>
              </a:rPr>
              <a:t>A Process-Aware OT/ICS Anomaly-Detection and Monitoring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105156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9FBCDC"/>
                </a:solidFill>
                <a:latin typeface="Calibri"/>
              </a:rPr>
              <a:t>Team (graduation project):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Marko · Mahmoud · Kirollos · Kerolos Yousef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9FBCDC"/>
                </a:solidFill>
                <a:latin typeface="Calibri"/>
              </a:rPr>
              <a:t>Program: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M.S. in Computer Science        Supervisor: Dr. Zulkernine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9FBCDC"/>
                </a:solidFill>
                <a:latin typeface="Calibri"/>
              </a:rPr>
              <a:t>Detector: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TranAD (selected &amp; trained)        Dataset: SWaT clean Attack_v0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9FBCDC"/>
                </a:solidFill>
                <a:latin typeface="Calibri"/>
              </a:rPr>
              <a:t>Date: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September 12, 2026        Repository HEAD: e57a18d (docs/root-readme)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INTRODUCTION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Motivation &amp;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F3A5F"/>
                </a:solidFill>
                <a:latin typeface="Calibri"/>
              </a:rPr>
              <a:t>OT/ICS run physical processes — </a:t>
            </a:r>
            <a:r>
              <a:rPr sz="1550" b="0" i="0">
                <a:solidFill>
                  <a:srgbClr val="444444"/>
                </a:solidFill>
                <a:latin typeface="Calibri"/>
              </a:rPr>
              <a:t>in a water-treatment plant, PLCs read sensors and drive pumps/valves to hold chlorine dosing in a narrow safe band — too little is unsafe to drink, too much is hazardous.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F3A5F"/>
                </a:solidFill>
                <a:latin typeface="Calibri"/>
              </a:rPr>
              <a:t>A different security model — </a:t>
            </a:r>
            <a:r>
              <a:rPr sz="1550" b="0" i="0">
                <a:solidFill>
                  <a:srgbClr val="444444"/>
                </a:solidFill>
                <a:latin typeface="Calibri"/>
              </a:rPr>
              <a:t>OT is engineered primarily around process safety, reliability, and availability; its threat models differ from conventional IT systems.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F3A5F"/>
                </a:solidFill>
                <a:latin typeface="Calibri"/>
              </a:rPr>
              <a:t>Connectivity increases exposure — </a:t>
            </a:r>
            <a:r>
              <a:rPr sz="1550" b="0" i="0">
                <a:solidFill>
                  <a:srgbClr val="444444"/>
                </a:solidFill>
                <a:latin typeface="Calibri"/>
              </a:rPr>
              <a:t>remote access and enterprise integration raise the attack surface; consequences are cyber-physical, not just digital.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F3A5F"/>
                </a:solidFill>
                <a:latin typeface="Calibri"/>
              </a:rPr>
              <a:t>Perimeter monitoring is necessary but may be insufficient — </a:t>
            </a:r>
            <a:r>
              <a:rPr sz="1550" b="0" i="0">
                <a:solidFill>
                  <a:srgbClr val="444444"/>
                </a:solidFill>
                <a:latin typeface="Calibri"/>
              </a:rPr>
              <a:t>an attacker can use legitimate control mechanisms to induce unsafe physical behaviour that looks like valid traffic.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F3A5F"/>
                </a:solidFill>
                <a:latin typeface="Calibri"/>
              </a:rPr>
              <a:t>Our angle: process-aware detection — </a:t>
            </a:r>
            <a:r>
              <a:rPr sz="1550" b="0" i="0">
                <a:solidFill>
                  <a:srgbClr val="444444"/>
                </a:solidFill>
                <a:latin typeface="Calibri"/>
              </a:rPr>
              <a:t>evaluate whether observed multivariate telemetry stays consistent with learned plant behaviour.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PROBLEM &amp; OBJECTIVES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Problem Statement &amp; 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1018520" cy="105156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60704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2E5A88"/>
                </a:solidFill>
                <a:latin typeface="Calibri"/>
              </a:rPr>
              <a:t>Problem  </a:t>
            </a:r>
            <a:r>
              <a:rPr sz="1500" b="1" i="0">
                <a:solidFill>
                  <a:srgbClr val="1F3A5F"/>
                </a:solidFill>
                <a:latin typeface="Calibri"/>
              </a:rPr>
              <a:t>How can anomalous, cyber-induced changes in multivariate water-treatment process telemetry be detected and surfaced to an operator through a usable monitoring system?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11018520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O1 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Analyze the SWaT dataset (normal + labelled attacks)   </a:t>
            </a:r>
            <a:r>
              <a:rPr sz="1250" b="1" i="0">
                <a:solidFill>
                  <a:srgbClr val="1E7A3C"/>
                </a:solidFill>
                <a:latin typeface="Calibri"/>
              </a:rPr>
              <a:t>[ACHIEVED]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O2 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Integrate &amp; evaluate the selected detector under a deployment-oriented protocol   </a:t>
            </a:r>
            <a:r>
              <a:rPr sz="1250" b="1" i="0">
                <a:solidFill>
                  <a:srgbClr val="1E7A3C"/>
                </a:solidFill>
                <a:latin typeface="Calibri"/>
              </a:rPr>
              <a:t>[ACHIEVED]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O3 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Deliver a monitoring platform with an operator dashboard   </a:t>
            </a:r>
            <a:r>
              <a:rPr sz="1250" b="1" i="0">
                <a:solidFill>
                  <a:srgbClr val="1E7A3C"/>
                </a:solidFill>
                <a:latin typeface="Calibri"/>
              </a:rPr>
              <a:t>[ACHIEVED (local)]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O4 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Demonstrate live detection on SWaT attacks (low latency / low FP)   </a:t>
            </a:r>
            <a:r>
              <a:rPr sz="1250" b="1" i="0">
                <a:solidFill>
                  <a:srgbClr val="B86A00"/>
                </a:solidFill>
                <a:latin typeface="Calibri"/>
              </a:rPr>
              <a:t>[PARTIAL]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O5 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Treat detection as a secure product: cloud, containers, CI/CD gates   </a:t>
            </a:r>
            <a:r>
              <a:rPr sz="1250" b="1" i="0">
                <a:solidFill>
                  <a:srgbClr val="6A6A6A"/>
                </a:solidFill>
                <a:latin typeface="Calibri"/>
              </a:rPr>
              <a:t>[FUTURE]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O6 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Technical documentation + final live attack demonstration   </a:t>
            </a:r>
            <a:r>
              <a:rPr sz="1250" b="1" i="0">
                <a:solidFill>
                  <a:srgbClr val="B86A00"/>
                </a:solidFill>
                <a:latin typeface="Calibri"/>
              </a:rPr>
              <a:t>[PARTIAL]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LITERATURE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F3A5F"/>
                </a:solidFill>
                <a:latin typeface="Calibri"/>
              </a:rPr>
              <a:t>ICS / water-treatment security — </a:t>
            </a:r>
            <a:r>
              <a:rPr sz="1450" b="0" i="0">
                <a:solidFill>
                  <a:srgbClr val="444444"/>
                </a:solidFill>
                <a:latin typeface="Calibri"/>
              </a:rPr>
              <a:t>authoritative OT guidance (NIST SP 800-82 Rev. 3) and water-sector guidance (CISA/FBI/EPA); the SWaT and WADI iTrust testbeds provide the rare labelled attack data this field depends on.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F3A5F"/>
                </a:solidFill>
                <a:latin typeface="Calibri"/>
              </a:rPr>
              <a:t>Multivariate, reconstruction-based detection — </a:t>
            </a:r>
            <a:r>
              <a:rPr sz="1450" b="0" i="0">
                <a:solidFill>
                  <a:srgbClr val="444444"/>
                </a:solidFill>
                <a:latin typeface="Calibri"/>
              </a:rPr>
              <a:t>unsupervised time-series anomaly detection — USAD (adversarial autoencoders), GDN (graph neural networks), and TranAD (transformer, two decoders, focus score).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F3A5F"/>
                </a:solidFill>
                <a:latin typeface="Calibri"/>
              </a:rPr>
              <a:t>TranAD — the model productionized here — </a:t>
            </a:r>
            <a:r>
              <a:rPr sz="1450" b="0" i="0">
                <a:solidFill>
                  <a:srgbClr val="444444"/>
                </a:solidFill>
                <a:latin typeface="Calibri"/>
              </a:rPr>
              <a:t>reconstructs the final timestep of each window; strong on SWaT/WADI benchmarks while light enough for CPU inference.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F3A5F"/>
                </a:solidFill>
                <a:latin typeface="Calibri"/>
              </a:rPr>
              <a:t>Rigorous evaluation — </a:t>
            </a:r>
            <a:r>
              <a:rPr sz="1450" b="0" i="0">
                <a:solidFill>
                  <a:srgbClr val="444444"/>
                </a:solidFill>
                <a:latin typeface="Calibri"/>
              </a:rPr>
              <a:t>point-adjustment inflates scores (Kim et al.) — even a random detector scores well; so point-wise metrics are treated as primary.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F3A5F"/>
                </a:solidFill>
                <a:latin typeface="Calibri"/>
              </a:rPr>
              <a:t>ML systems / DevSecOps — </a:t>
            </a:r>
            <a:r>
              <a:rPr sz="1450" b="0" i="0">
                <a:solidFill>
                  <a:srgbClr val="444444"/>
                </a:solidFill>
                <a:latin typeface="Calibri"/>
              </a:rPr>
              <a:t>immutable versioned artifacts, reproducible preprocessing, thin service boundaries; security gates in CI/CD deferred to later phases.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METHODOLOGY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Approach — End-to-End MVP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3794760" cy="475488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36118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1" i="0">
                <a:solidFill>
                  <a:srgbClr val="1F3A5F"/>
                </a:solidFill>
                <a:latin typeface="Calibri"/>
              </a:rPr>
              <a:t>SWaT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481328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Calibri"/>
              </a:rPr>
              <a:t>licensed clean Attack_v0 CSVs (not committed)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38528"/>
            <a:ext cx="548640" cy="1143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2E5A88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97964"/>
            <a:ext cx="3794760" cy="475488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7964"/>
            <a:ext cx="36118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1" i="0">
                <a:solidFill>
                  <a:srgbClr val="1F3A5F"/>
                </a:solidFill>
                <a:latin typeface="Calibri"/>
              </a:rPr>
              <a:t>SWaTReplay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997964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Calibri"/>
              </a:rPr>
              <a:t>ordered 1 Hz stream · subsample 5 → 5 s cadence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455164"/>
            <a:ext cx="548640" cy="1143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2E5A88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14600"/>
            <a:ext cx="3794760" cy="475488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14600"/>
            <a:ext cx="36118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1" i="0">
                <a:solidFill>
                  <a:srgbClr val="1F3A5F"/>
                </a:solidFill>
                <a:latin typeface="Calibri"/>
              </a:rPr>
              <a:t>RollingWindow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514600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Calibri"/>
              </a:rPr>
              <a:t>owns the 30-sample ring buffer · stride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971800"/>
            <a:ext cx="548640" cy="1143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2E5A88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031236"/>
            <a:ext cx="3794760" cy="475488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31236"/>
            <a:ext cx="36118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1" i="0">
                <a:solidFill>
                  <a:srgbClr val="1F3A5F"/>
                </a:solidFill>
                <a:latin typeface="Calibri"/>
              </a:rPr>
              <a:t>30 × 45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031236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Calibri"/>
              </a:rPr>
              <a:t>raw telemetry in feature-name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488436"/>
            <a:ext cx="548640" cy="1143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2E5A88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547872"/>
            <a:ext cx="3794760" cy="475488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547872"/>
            <a:ext cx="36118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1" i="0">
                <a:solidFill>
                  <a:srgbClr val="1F3A5F"/>
                </a:solidFill>
                <a:latin typeface="Calibri"/>
              </a:rPr>
              <a:t>FastAPI  /score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547872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Calibri"/>
              </a:rPr>
              <a:t>thin, stateless boundary: validate → delegate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005072"/>
            <a:ext cx="548640" cy="1143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2E5A88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064508"/>
            <a:ext cx="3794760" cy="475488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64508"/>
            <a:ext cx="36118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1" i="0">
                <a:solidFill>
                  <a:srgbClr val="1F3A5F"/>
                </a:solidFill>
                <a:latin typeface="Calibri"/>
              </a:rPr>
              <a:t>TranADDetector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064508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Calibri"/>
              </a:rPr>
              <a:t>stateless: preprocess → reconstruct →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521708"/>
            <a:ext cx="548640" cy="1143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2E5A88"/>
                </a:solidFill>
                <a:latin typeface="Calibri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581144"/>
            <a:ext cx="3794760" cy="475488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81144"/>
            <a:ext cx="36118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1" i="0">
                <a:solidFill>
                  <a:srgbClr val="1F3A5F"/>
                </a:solidFill>
                <a:latin typeface="Calibri"/>
              </a:rPr>
              <a:t>Anomaly score + 45-way attribution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581144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Calibri"/>
              </a:rPr>
              <a:t>which sensors drove the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38344"/>
            <a:ext cx="548640" cy="1143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2E5A88"/>
                </a:solidFill>
                <a:latin typeface="Calibri"/>
              </a:rPr>
              <a:t>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097780"/>
            <a:ext cx="3794760" cy="475488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097780"/>
            <a:ext cx="36118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1" i="0">
                <a:solidFill>
                  <a:srgbClr val="1F3A5F"/>
                </a:solidFill>
                <a:latin typeface="Calibri"/>
              </a:rPr>
              <a:t>AlertEngine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097780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Calibri"/>
              </a:rPr>
              <a:t>stateful, in-memory: dedup · OPEN → CLOSED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554980"/>
            <a:ext cx="548640" cy="1143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2E5A88"/>
                </a:solidFill>
                <a:latin typeface="Calibri"/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614416"/>
            <a:ext cx="3794760" cy="475488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614416"/>
            <a:ext cx="361188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1" i="0">
                <a:solidFill>
                  <a:srgbClr val="1F3A5F"/>
                </a:solidFill>
                <a:latin typeface="Calibri"/>
              </a:rPr>
              <a:t>Monitoring API +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5614416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Calibri"/>
              </a:rPr>
              <a:t>/status /alerts /alerts/active · polling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METHODOLOGY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Key Architectural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5394960" cy="2148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F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128016" cy="214884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1783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600" b="1" i="0">
                <a:solidFill>
                  <a:srgbClr val="1F3A5F"/>
                </a:solidFill>
                <a:latin typeface="Calibri"/>
              </a:rPr>
              <a:t>RollingWindow owns buffering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444444"/>
                </a:solidFill>
                <a:latin typeface="Calibri"/>
              </a:rPr>
              <a:t>A deque (maxlen 30) gives automatic stride-1 eviction; validates feature count &amp; finiteness, copies inputs. Imports neither torch nor FastAPI.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554480"/>
            <a:ext cx="5394960" cy="2148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F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554480"/>
            <a:ext cx="128016" cy="214884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737360"/>
            <a:ext cx="4846320" cy="1783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600" b="1" i="0">
                <a:solidFill>
                  <a:srgbClr val="1F3A5F"/>
                </a:solidFill>
                <a:latin typeface="Calibri"/>
              </a:rPr>
              <a:t>TranADDetector is stateless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444444"/>
                </a:solidFill>
                <a:latin typeface="Calibri"/>
              </a:rPr>
              <a:t>One (30×45) window in → one decision out. Trivially testable and horizontally scalable; holds no streaming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886200"/>
            <a:ext cx="5394960" cy="2148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F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886200"/>
            <a:ext cx="128016" cy="214884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1783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600" b="1" i="0">
                <a:solidFill>
                  <a:srgbClr val="1F3A5F"/>
                </a:solidFill>
                <a:latin typeface="Calibri"/>
              </a:rPr>
              <a:t>FastAPI is a thin, stateless boundary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444444"/>
                </a:solidFill>
                <a:latin typeface="Calibri"/>
              </a:rPr>
              <a:t>Validate shape / feature identity &amp; order → delegate → shape response. No buffering, no duplicated ML logic (backend → ml.src only).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886200"/>
            <a:ext cx="5394960" cy="2148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F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3886200"/>
            <a:ext cx="128016" cy="214884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4069080"/>
            <a:ext cx="4846320" cy="1783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600" b="1" i="0">
                <a:solidFill>
                  <a:srgbClr val="1F3A5F"/>
                </a:solidFill>
                <a:latin typeface="Calibri"/>
              </a:rPr>
              <a:t>AlertEngine is the only stateful layer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444444"/>
                </a:solidFill>
                <a:latin typeface="Calibri"/>
              </a:rPr>
              <a:t>A small state machine: consecutive anomalies → ONE alert (OPEN → dedup → CLOSE). Severity is a labelled heuristic. In-memory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MODEL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The TranAD 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F3A5F"/>
                </a:solidFill>
                <a:latin typeface="Calibri"/>
              </a:rPr>
              <a:t>Input —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a 30-timestep window of 45 process features; model selection is complete — TranAD is not revisited this phase.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F3A5F"/>
                </a:solidFill>
                <a:latin typeface="Calibri"/>
              </a:rPr>
              <a:t>Cadence &amp; context —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subsampling keeps every 5th 1 Hz sample → 5 s cadence; a 30-sample window ≈ 150 s of context and only becomes scoreable once 30 samples accumulate.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F3A5F"/>
                </a:solidFill>
                <a:latin typeface="Calibri"/>
              </a:rPr>
              <a:t>Why these numbers —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30 samples are fixed by the transformer's positional encoding; 45 features remain after 6 near-constant columns were dropped in training.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F3A5F"/>
                </a:solidFill>
                <a:latin typeface="Calibri"/>
              </a:rPr>
              <a:t>Scoring —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reconstruct only the last timestep with two decoders; score = 0.5·MSE(x₁) + 0.5·MSE(x₂), averaged over 45 features, vs a fixed threshold.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F3A5F"/>
                </a:solidFill>
                <a:latin typeface="Calibri"/>
              </a:rPr>
              <a:t>Process-aware evidence —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per-feature error (45-way) shows which sensors drove the alert — at zero extra cost, carried to the operator.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F3A5F"/>
                </a:solidFill>
                <a:latin typeface="Calibri"/>
              </a:rPr>
              <a:t>Reproducibility — 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the five immutable artifacts are byte-identical &amp; SHA-256 verified; golden-vector parity guards the load-bearing transforms.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DATA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SWaT Dataset &amp; Provenance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548640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Clean Attack_v0 (reconstructed)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449,919 rows · zero missing values · all 45 features populated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12.14% row-level attack ratio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≈ 12.15% windowed (last-timestep) attack prevalence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35 contiguous attack label segments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normal → attack → normal sequence, merged by timestamp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licensed (iTrust/SUTD); held locally, not in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481328"/>
            <a:ext cx="5257800" cy="4526280"/>
          </a:xfrm>
          <a:prstGeom prst="rect">
            <a:avLst/>
          </a:prstGeom>
          <a:solidFill>
            <a:srgbClr val="F4F7FB"/>
          </a:solidFill>
          <a:ln w="12700">
            <a:solidFill>
              <a:srgbClr val="CF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27632"/>
            <a:ext cx="4846320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450" b="1" i="0">
                <a:solidFill>
                  <a:srgbClr val="1F3A5F"/>
                </a:solidFill>
                <a:latin typeface="Calibri"/>
              </a:rPr>
              <a:t>Provenance findings → honest engineering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E5A88"/>
                </a:solidFill>
                <a:latin typeface="Calibri"/>
              </a:rPr>
              <a:t>• </a:t>
            </a:r>
            <a:r>
              <a:rPr sz="1250" b="1" i="0">
                <a:solidFill>
                  <a:srgbClr val="1F3A5F"/>
                </a:solidFill>
                <a:latin typeface="Calibri"/>
              </a:rPr>
              <a:t>Duplicated normal block —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raw attack ratio deflated to 3.79%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E5A88"/>
                </a:solidFill>
                <a:latin typeface="Calibri"/>
              </a:rPr>
              <a:t>• </a:t>
            </a:r>
            <a:r>
              <a:rPr sz="1250" b="1" i="0">
                <a:solidFill>
                  <a:srgbClr val="1F3A5F"/>
                </a:solidFill>
                <a:latin typeface="Calibri"/>
              </a:rPr>
              <a:t>Header-spelling mismatch —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6 model features silently frozen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E5A88"/>
                </a:solidFill>
                <a:latin typeface="Calibri"/>
              </a:rPr>
              <a:t>• </a:t>
            </a:r>
            <a:r>
              <a:rPr sz="1250" b="1" i="0">
                <a:solidFill>
                  <a:srgbClr val="1F3A5F"/>
                </a:solidFill>
                <a:latin typeface="Calibri"/>
              </a:rPr>
              <a:t>Threshold calibrated on frozen data —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nominal 1% FPR will not hold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E5A88"/>
                </a:solidFill>
                <a:latin typeface="Calibri"/>
              </a:rPr>
              <a:t>• </a:t>
            </a:r>
            <a:r>
              <a:rPr sz="1250" b="1" i="0">
                <a:solidFill>
                  <a:srgbClr val="1F3A5F"/>
                </a:solidFill>
                <a:latin typeface="Calibri"/>
              </a:rPr>
              <a:t>Only true constant is P301 —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frozen features were the data gap</a:t>
            </a:r>
          </a:p>
          <a:p>
            <a:pPr>
              <a:spcBef>
                <a:spcPts val="1000"/>
              </a:spcBef>
            </a:pPr>
            <a:r>
              <a:rPr sz="1200" b="0" i="1">
                <a:solidFill>
                  <a:srgbClr val="444444"/>
                </a:solidFill>
                <a:latin typeface="Calibri"/>
              </a:rPr>
              <a:t>Response: use clean Attack_v0; surface the caveat; reject (not impute) non-finite input; report point-wise metrics at the true base 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IMPLEMENTATION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Stack, Modules &amp; Build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400" b="1" i="0">
                <a:solidFill>
                  <a:srgbClr val="1F3A5F"/>
                </a:solidFill>
                <a:latin typeface="Calibri"/>
              </a:rPr>
              <a:t>Verified stack: 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Python 3.10.12 · PyTorch 2.9.1 (CPU) · scikit-learn 1.7.2 · NumPy 2.2.6 · joblib 1.5.3 · FastAPI 0.141.1 · Uvicorn 0.52.4 · httpx 0.28.1 · pytest 8.4.2 · vanilla HTML/CSS/JS. No GPU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F3A5F"/>
                </a:solidFill>
                <a:latin typeface="Calibri"/>
              </a:rPr>
              <a:t>ml/ —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production TranAD inference + immutable artifacts (research notebooks kept separate).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F3A5F"/>
                </a:solidFill>
                <a:latin typeface="Calibri"/>
              </a:rPr>
              <a:t>simulator/ —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SWaTReplay, RollingWindow, pipeline glue — imports neither torch nor FastAPI.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F3A5F"/>
                </a:solidFill>
                <a:latin typeface="Calibri"/>
              </a:rPr>
              <a:t>backend/ —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thin FastAPI app + request/response schemas.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F3A5F"/>
                </a:solidFill>
                <a:latin typeface="Calibri"/>
              </a:rPr>
              <a:t>alerting/ —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stateful alert engine + Alert value object (duck-types on detector output).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F3A5F"/>
                </a:solidFill>
                <a:latin typeface="Calibri"/>
              </a:rPr>
              <a:t>frontend/ —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single-file zero-build operator dashboard.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F3A5F"/>
                </a:solidFill>
                <a:latin typeface="Calibri"/>
              </a:rPr>
              <a:t>tests/ — 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unit · golden-vector ML · API · integration · end-to-end.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44068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00" b="1" i="0">
                <a:solidFill>
                  <a:srgbClr val="1F3A5F"/>
                </a:solidFill>
                <a:latin typeface="Calibri"/>
              </a:rPr>
              <a:t>Build order:  </a:t>
            </a:r>
            <a:r>
              <a:rPr sz="1300" b="1" i="0">
                <a:solidFill>
                  <a:srgbClr val="444444"/>
                </a:solidFill>
                <a:latin typeface="Calibri"/>
              </a:rPr>
              <a:t>Phase 0 → 1 → 1.5 → 2A → 2B → 3 → 4 → 5A.  </a:t>
            </a:r>
          </a:p>
          <a:p>
            <a:pPr>
              <a:spcBef>
                <a:spcPts val="300"/>
              </a:spcBef>
            </a:pPr>
            <a:r>
              <a:rPr sz="1250" b="0" i="1">
                <a:solidFill>
                  <a:srgbClr val="444444"/>
                </a:solidFill>
                <a:latin typeface="Calibri"/>
              </a:rPr>
              <a:t>2A (replay + rolling window) was built before 2B (FastAPI) on purpose — so buffer ownership was resolved first and the API could stay thin &amp; stateless.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EVALUATION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Protocol — Measuring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F3A5F"/>
                </a:solidFill>
                <a:latin typeface="Calibri"/>
              </a:rPr>
              <a:t>Point-wise is the primary protocol —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each window is scored against ground truth at its last timestep — the only sample TranAD reconstructs.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F3A5F"/>
                </a:solidFill>
                <a:latin typeface="Calibri"/>
              </a:rPr>
              <a:t>Point-adjusted is secondary only —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it marks a whole segment detected from a single flagged point and systematically overstates performance (Kim et al.).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F3A5F"/>
                </a:solidFill>
                <a:latin typeface="Calibri"/>
              </a:rPr>
              <a:t>F1 ≈ 0.9999 is invalid as a headline —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it came from a threshold searched on the test set — “can read ~1.0 even for a broken model.” Never reported as deployment.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F3A5F"/>
                </a:solidFill>
                <a:latin typeface="Calibri"/>
              </a:rPr>
              <a:t>Threshold-free metrics reported too —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ROC-AUC and PR-AUC characterize the model independently of the shipped threshold.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2E5A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F3A5F"/>
                </a:solidFill>
                <a:latin typeface="Calibri"/>
              </a:rPr>
              <a:t>System-level validation — </a:t>
            </a:r>
            <a:r>
              <a:rPr sz="1500" b="0" i="0">
                <a:solidFill>
                  <a:srgbClr val="444444"/>
                </a:solidFill>
                <a:latin typeface="Calibri"/>
              </a:rPr>
              <a:t>286 automated tests; golden-vector parity; end-to-end over a real Uvicorn socket; normal → attack → recovery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RESULTS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Preliminary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63040"/>
            <a:ext cx="1773936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1773936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0.7822</a:t>
            </a:r>
          </a:p>
          <a:p>
            <a:pPr algn="ctr"/>
            <a:r>
              <a:rPr sz="1100" b="1" i="0">
                <a:solidFill>
                  <a:srgbClr val="BFD3EA"/>
                </a:solidFill>
                <a:latin typeface="Calibri"/>
              </a:rPr>
              <a:t>Precision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9736" y="1463040"/>
            <a:ext cx="1773936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9736" y="1536192"/>
            <a:ext cx="1773936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0.7821</a:t>
            </a:r>
          </a:p>
          <a:p>
            <a:pPr algn="ctr"/>
            <a:r>
              <a:rPr sz="1100" b="1" i="0">
                <a:solidFill>
                  <a:srgbClr val="BFD3EA"/>
                </a:solidFill>
                <a:latin typeface="Calibri"/>
              </a:rPr>
              <a:t>Recall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463040"/>
            <a:ext cx="1773936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536192"/>
            <a:ext cx="1773936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0.7822</a:t>
            </a:r>
          </a:p>
          <a:p>
            <a:pPr algn="ctr"/>
            <a:r>
              <a:rPr sz="1100" b="1" i="0">
                <a:solidFill>
                  <a:srgbClr val="BFD3EA"/>
                </a:solidFill>
                <a:latin typeface="Calibri"/>
              </a:rPr>
              <a:t>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463040"/>
            <a:ext cx="1773936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536192"/>
            <a:ext cx="1773936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3.0117%</a:t>
            </a:r>
          </a:p>
          <a:p>
            <a:pPr algn="ctr"/>
            <a:r>
              <a:rPr sz="1100" b="1" i="0">
                <a:solidFill>
                  <a:srgbClr val="BFD3EA"/>
                </a:solidFill>
                <a:latin typeface="Calibri"/>
              </a:rPr>
              <a:t>FPR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4" y="1463040"/>
            <a:ext cx="1773936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5864" y="1536192"/>
            <a:ext cx="1773936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0.9429</a:t>
            </a:r>
          </a:p>
          <a:p>
            <a:pPr algn="ctr"/>
            <a:r>
              <a:rPr sz="1100" b="1" i="0">
                <a:solidFill>
                  <a:srgbClr val="BFD3EA"/>
                </a:solidFill>
                <a:latin typeface="Calibri"/>
              </a:rPr>
              <a:t>ROC-AUC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1463040"/>
            <a:ext cx="1773936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1536192"/>
            <a:ext cx="1773936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0.8516</a:t>
            </a:r>
          </a:p>
          <a:p>
            <a:pPr algn="ctr"/>
            <a:r>
              <a:rPr sz="1100" b="1" i="0">
                <a:solidFill>
                  <a:srgbClr val="BFD3EA"/>
                </a:solidFill>
                <a:latin typeface="Calibri"/>
              </a:rPr>
              <a:t>PR-AUC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7860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0" i="1">
                <a:solidFill>
                  <a:srgbClr val="6A6A6A"/>
                </a:solidFill>
                <a:latin typeface="Calibri"/>
              </a:rPr>
              <a:t>Point-wise, clean Attack_v0, at the shipped threshold 9.269035945180804e-05 — the deployment figures to quote.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94360" y="3063240"/>
          <a:ext cx="11018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532120"/>
                <a:gridCol w="1188720"/>
                <a:gridCol w="1188720"/>
                <a:gridCol w="1188720"/>
                <a:gridCol w="13716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Rung</a:t>
                      </a:r>
                    </a:p>
                  </a:txBody>
                  <a:tcPr marL="54864" marR="3657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Dataset / labelling / protocol</a:t>
                      </a:r>
                    </a:p>
                  </a:txBody>
                  <a:tcPr marL="54864" marR="3657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Prec.</a:t>
                      </a:r>
                    </a:p>
                  </a:txBody>
                  <a:tcPr marL="54864" marR="3657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3657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36576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FPR</a:t>
                      </a:r>
                    </a:p>
                  </a:txBody>
                  <a:tcPr marL="54864" marR="36576" marT="18288" marB="18288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research concat (defective) / any-in-window / point-adjusted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0.6575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0.7934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clean Attack_v0 / any-in-window / point-adjusted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0.8450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0.9655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0.9012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clean Attack_v0 / last-timestep / point-adjusted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0.8151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0.9597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0.8815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clean Attack_v0 / last-timestep / point-wise (deployment)</a:t>
                      </a:r>
                    </a:p>
                  </a:txBody>
                  <a:tcPr marL="54864" marR="36576" marT="18288" marB="18288" anchor="ctr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0.7822</a:t>
                      </a:r>
                    </a:p>
                  </a:txBody>
                  <a:tcPr marL="54864" marR="36576" marT="18288" marB="18288" anchor="ctr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0.7821</a:t>
                      </a:r>
                    </a:p>
                  </a:txBody>
                  <a:tcPr marL="54864" marR="36576" marT="18288" marB="18288" anchor="ctr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0.7822</a:t>
                      </a:r>
                    </a:p>
                  </a:txBody>
                  <a:tcPr marL="54864" marR="36576" marT="18288" marB="18288" anchor="ctr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3.0117%</a:t>
                      </a:r>
                    </a:p>
                  </a:txBody>
                  <a:tcPr marL="54864" marR="36576" marT="18288" marB="18288" anchor="ctr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94360" y="55321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150" b="0" i="1">
                <a:solidFill>
                  <a:srgbClr val="6A6A6A"/>
                </a:solidFill>
                <a:latin typeface="Calibri"/>
              </a:rPr>
              <a:t>Rung 4 is the primary deployment metric; rungs 1–3 are secondary point-adjusted diagnostics. Point adjustment does not change FP/TN, so FPR is reported only for the point-wise rung.  286 tests passing.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DELIVERABLES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Achieved Outcomes — Current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TranAD inference engine (stateless, over immutable artifacts)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86584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Reproducible, regression-tested preprocessing (golden-vector parity)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45536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90672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SWaT telemetry replay of the clean Attack_v0 series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04488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49624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Caller-owned rolling 30-sample window (stride 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63440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08576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Thin, stateless FastAPI backend (/health, /score)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422392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67528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Stateful in-memory alert engine (dedup + OPEN → CLOSED)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27632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72768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Monitoring API (/status, /alerts, /alerts/active)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386584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331720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Zero-build operator dashboard (vanilla HTML/CSS/JS)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145536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90672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End-to-end demo over a real HTTP boundary (normal/attack/recovery)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904488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849624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Deployment-oriented evaluation with documented provenance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63440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608576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286 automated tests (unit · ML · API · integration · E2E)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422392"/>
            <a:ext cx="182880" cy="18288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5367528"/>
            <a:ext cx="521208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50" b="0" i="0">
                <a:solidFill>
                  <a:srgbClr val="444444"/>
                </a:solidFill>
                <a:latin typeface="Calibri"/>
              </a:rPr>
              <a:t>Verified, pinned, reproducible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2471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2E5A88"/>
                </a:solidFill>
                <a:latin typeface="Calibri"/>
              </a:rPr>
              <a:t>ROADMAP</a:t>
            </a:r>
          </a:p>
          <a:p>
            <a:r>
              <a:rPr sz="2700" b="1" i="0">
                <a:solidFill>
                  <a:srgbClr val="1F3A5F"/>
                </a:solidFill>
                <a:latin typeface="Calibri"/>
              </a:rPr>
              <a:t>Future Work &amp; Key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27940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566928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Future work (not yet implemented)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6A6A6A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Alert persistence / database (replace in-memory state)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6A6A6A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Stuck/frozen-channel detection at ingest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6A6A6A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Docker containerization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6A6A6A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CI/CD pipeline + DevSecOps security gates (SAST, dep/container scan)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6A6A6A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AWS deployment · Terraform IaC · Kubernetes (stretch)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6A6A6A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Authentication · notifications · observability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6A6A6A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Performance/latency testing · final hardening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6A6A6A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Optional approval-gated threshold recalibration (no retraining)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481328"/>
            <a:ext cx="5074920" cy="4480560"/>
          </a:xfrm>
          <a:prstGeom prst="rect">
            <a:avLst/>
          </a:prstGeom>
          <a:solidFill>
            <a:srgbClr val="FBF5EE"/>
          </a:solidFill>
          <a:ln w="12700">
            <a:solidFill>
              <a:srgbClr val="E6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627632"/>
            <a:ext cx="46634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Key risks &amp; mitigations</a:t>
            </a:r>
          </a:p>
          <a:p>
            <a:pPr>
              <a:spcBef>
                <a:spcPts val="700"/>
              </a:spcBef>
            </a:pPr>
            <a:r>
              <a:rPr sz="1250" b="1" i="0">
                <a:solidFill>
                  <a:srgbClr val="B86A00"/>
                </a:solidFill>
                <a:latin typeface="Calibri"/>
              </a:rPr>
              <a:t>•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Threshold caveat → ~3% FPR —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disclosed; honest metrics; recalibration deferred (approval-gated)</a:t>
            </a:r>
          </a:p>
          <a:p>
            <a:pPr>
              <a:spcBef>
                <a:spcPts val="700"/>
              </a:spcBef>
            </a:pPr>
            <a:r>
              <a:rPr sz="1250" b="1" i="0">
                <a:solidFill>
                  <a:srgbClr val="B86A00"/>
                </a:solidFill>
                <a:latin typeface="Calibri"/>
              </a:rPr>
              <a:t>•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150 s context requirement —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inherent — window must fill before first score</a:t>
            </a:r>
          </a:p>
          <a:p>
            <a:pPr>
              <a:spcBef>
                <a:spcPts val="700"/>
              </a:spcBef>
            </a:pPr>
            <a:r>
              <a:rPr sz="1250" b="1" i="0">
                <a:solidFill>
                  <a:srgbClr val="B86A00"/>
                </a:solidFill>
                <a:latin typeface="Calibri"/>
              </a:rPr>
              <a:t>•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Stuck channel passes silently —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non-finite rejected now; stuck-channel check is future work</a:t>
            </a:r>
          </a:p>
          <a:p>
            <a:pPr>
              <a:spcBef>
                <a:spcPts val="700"/>
              </a:spcBef>
            </a:pPr>
            <a:r>
              <a:rPr sz="1250" b="1" i="0">
                <a:solidFill>
                  <a:srgbClr val="B86A00"/>
                </a:solidFill>
                <a:latin typeface="Calibri"/>
              </a:rPr>
              <a:t>•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In-memory alert state —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lost on restart; persistence is prioritized future work</a:t>
            </a:r>
          </a:p>
          <a:p>
            <a:pPr>
              <a:spcBef>
                <a:spcPts val="700"/>
              </a:spcBef>
            </a:pPr>
            <a:r>
              <a:rPr sz="1250" b="1" i="0">
                <a:solidFill>
                  <a:srgbClr val="B86A00"/>
                </a:solidFill>
                <a:latin typeface="Calibri"/>
              </a:rPr>
              <a:t>•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Dataset licensing —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CSVs local &amp; git-ignored; via env var</a:t>
            </a:r>
          </a:p>
          <a:p>
            <a:pPr>
              <a:spcBef>
                <a:spcPts val="700"/>
              </a:spcBef>
            </a:pPr>
            <a:r>
              <a:rPr sz="1250" b="1" i="0">
                <a:solidFill>
                  <a:srgbClr val="B86A00"/>
                </a:solidFill>
                <a:latin typeface="Calibri"/>
              </a:rPr>
              <a:t>•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Artifact / env drift —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SHA-256 pins + golden-vector parity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850" b="0" i="0">
                <a:solidFill>
                  <a:srgbClr val="6A6A6A"/>
                </a:solidFill>
                <a:latin typeface="Calibri"/>
              </a:rPr>
              <a:t>Water Chlorination ICS Security  ·  Phase 1 /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6A6A6A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463040" cy="50800"/>
          </a:xfrm>
          <a:prstGeom prst="rect">
            <a:avLst/>
          </a:prstGeom>
          <a:solidFill>
            <a:srgbClr val="8FB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  <a:p>
            <a:pPr>
              <a:spcBef>
                <a:spcPts val="1000"/>
              </a:spcBef>
            </a:pPr>
            <a:r>
              <a:rPr sz="1800" b="0" i="0">
                <a:solidFill>
                  <a:srgbClr val="DFE9F4"/>
                </a:solidFill>
                <a:latin typeface="Calibri"/>
              </a:rPr>
              <a:t>Phase 1's contribution is not a new detector — it is a reproducible, honestly evaluated engineering pipeline that turns a validated TranAD detector into an operational, end-to-end local monitoring MVP.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8FB3D9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DFE9F4"/>
                </a:solidFill>
                <a:latin typeface="Calibri"/>
              </a:rPr>
              <a:t>Stateless detector · RollingWindow owns buffering · thin FastAPI · AlertEngine is the only stateful (in-memory) layer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8FB3D9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DFE9F4"/>
                </a:solidFill>
                <a:latin typeface="Calibri"/>
              </a:rPr>
              <a:t>Deployment metric: point-wise F1 = 0.7822, FPR = 3.0117% · ROC-AUC 0.9429 · PR-AUC 0.8516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8FB3D9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DFE9F4"/>
                </a:solidFill>
                <a:latin typeface="Calibri"/>
              </a:rPr>
              <a:t>286 tests passing · end-to-end normal → attack → recovery over real HTTP · threshold caveats disclosed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8FB3D9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DFE9F4"/>
                </a:solidFill>
                <a:latin typeface="Calibri"/>
              </a:rPr>
              <a:t>Cloud, containers, CI/CD security gates, and persistence are clearly separated as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5775" cy="254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Thank you — Questions &amp; Discussion</a:t>
            </a:r>
          </a:p>
          <a:p>
            <a:r>
              <a:rPr sz="1150" b="0" i="0">
                <a:solidFill>
                  <a:srgbClr val="AFC6DE"/>
                </a:solidFill>
                <a:latin typeface="Calibri"/>
              </a:rPr>
              <a:t>References: NIST SP 800-82 Rev. 3 · CISA/FBI/EPA WWS Guide · SWaT/WADI · TranAD · USAD · GDN · Kim et al. (full list in the report, §12).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